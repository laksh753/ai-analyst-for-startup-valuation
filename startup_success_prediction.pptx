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8B949E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8B949E"/>
                </a:solidFill>
                <a:latin typeface="Arial"/>
              </a:rPr>
              <a:t>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58A6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D3C-6441-B745-0D45C8FE6A35}"/>
              </c:ext>
            </c:extLst>
          </c:dPt>
          <c:dPt>
            <c:idx val="1"/>
            <c:invertIfNegative val="0"/>
            <c:bubble3D val="0"/>
            <c:spPr>
              <a:solidFill>
                <a:srgbClr val="3FB9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D3C-6441-B745-0D45C8FE6A3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Logistic Regression</c:v>
                </c:pt>
                <c:pt idx="1">
                  <c:v>Random Forest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65.2</c:v>
                </c:pt>
                <c:pt idx="1">
                  <c:v>73.81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3C-6441-B745-0D45C8FE6A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2333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C23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304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58A6FF">
              <a:alpha val="12000"/>
            </a:srgbClr>
          </a:solidFill>
          <a:ln w="12700">
            <a:solidFill>
              <a:srgbClr val="58A6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-457200"/>
            <a:ext cx="2560320" cy="2560320"/>
          </a:xfrm>
          <a:prstGeom prst="ellipse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926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Success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System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6576" cy="50292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22860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early-stage metrics predict Acquisition, IPO, or Failure—before market outcomes are known?"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192024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8A6FF"/>
                </a:solidFill>
              </a:rPr>
              <a:t>100K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8B949E"/>
                </a:solidFill>
              </a:rPr>
              <a:t>STARTUP RECORDS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560320" y="3017520"/>
            <a:ext cx="192024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60320" y="3063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C8CFF"/>
                </a:solidFill>
              </a:rPr>
              <a:t>10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60320" y="34015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8B949E"/>
                </a:solidFill>
              </a:rPr>
              <a:t>INPUT FEATURES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192024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3063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B950"/>
                </a:solidFill>
              </a:rPr>
              <a:t>73.8%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63440" y="34015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8B949E"/>
                </a:solidFill>
              </a:rPr>
              <a:t>BEST ACCURACY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766560" y="3017520"/>
            <a:ext cx="192024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0" y="3063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3B341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34015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50" dirty="0">
                <a:solidFill>
                  <a:srgbClr val="8B949E"/>
                </a:solidFill>
              </a:rPr>
              <a:t>OUTCOME CLASSES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400" dirty="0">
                <a:solidFill>
                  <a:srgbClr val="8B949E"/>
                </a:solidFill>
              </a:rPr>
              <a:t>PROBLEM STATEMENT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Predicting Startup Outcomes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classification: Acquisition · IPO · Failure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743200" cy="2377440"/>
          </a:xfrm>
          <a:prstGeom prst="rect">
            <a:avLst/>
          </a:prstGeom>
          <a:solidFill>
            <a:srgbClr val="1C2333"/>
          </a:solidFill>
          <a:ln w="12700">
            <a:solidFill>
              <a:srgbClr val="F85149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85149"/>
                </a:solidFill>
              </a:rPr>
              <a:t>55.6%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of startups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end in failure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E3B341"/>
                </a:solidFill>
              </a:rPr>
              <a:t>Only 2.1%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E3B341"/>
                </a:solidFill>
              </a:rPr>
              <a:t>achieve IPO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30449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100,000 startup records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analyzed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83280" y="1234440"/>
            <a:ext cx="54864" cy="7315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56432" y="1234440"/>
            <a:ext cx="5303520" cy="7498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66160" y="128930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00" dirty="0">
                <a:solidFill>
                  <a:srgbClr val="58A6FF"/>
                </a:solidFill>
              </a:rPr>
              <a:t>THE PROBLEM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566160" y="14721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</a:rPr>
              <a:t>Investors &amp; accelerators lack quantitative early-warning tools. Decisions rely on gut feel and qualitative scoring—not data-driven models.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2075688"/>
            <a:ext cx="54864" cy="7315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56432" y="2075688"/>
            <a:ext cx="5303520" cy="7498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66160" y="213055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00" dirty="0">
                <a:solidFill>
                  <a:srgbClr val="BC8CFF"/>
                </a:solidFill>
              </a:rPr>
              <a:t>LITERATURE GAP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566160" y="23134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</a:rPr>
              <a:t>Existing work (Zheng et al. 2020; CB Insights 2023) focuses on binary success/failure with &lt;1K samples. No ML approach covers 100K+ records with 3-class outcomes.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2916936"/>
            <a:ext cx="54864" cy="7315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56432" y="2916936"/>
            <a:ext cx="5303520" cy="74980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66160" y="297180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kern="0" spc="200" dirty="0">
                <a:solidFill>
                  <a:srgbClr val="3FB950"/>
                </a:solidFill>
              </a:rPr>
              <a:t>OUR INNOVATION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566160" y="31546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949E"/>
                </a:solidFill>
              </a:rPr>
              <a:t>First study applying ensemble learning (Random Forest) to 100K startup records predicting three distinct outcomes. Revenue ($M) found 47% more predictive than any other feature.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400" dirty="0">
                <a:solidFill>
                  <a:srgbClr val="8B949E"/>
                </a:solidFill>
              </a:rPr>
              <a:t>DATASET OVERVIEW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Startup Records · 10 Features · 3 Outcome Classes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B949E"/>
                </a:solidFill>
              </a:rPr>
              <a:t>CLASS DISTRIBUTION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709928"/>
            <a:ext cx="5029200" cy="20116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709928"/>
            <a:ext cx="4754880" cy="20116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5149"/>
                </a:solidFill>
              </a:rPr>
              <a:t>FAILURE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15087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</a:rPr>
              <a:t>55,610 (55.6%)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441448"/>
            <a:ext cx="5029200" cy="20116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441448"/>
            <a:ext cx="3566160" cy="2011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2402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FB950"/>
                </a:solidFill>
              </a:rPr>
              <a:t>ACQUISITION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2240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</a:rPr>
              <a:t>42,335 (42.3%)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172968"/>
            <a:ext cx="5029200" cy="201168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172968"/>
            <a:ext cx="365760" cy="20116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971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B341"/>
                </a:solidFill>
              </a:rPr>
              <a:t>IPO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2971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</a:rPr>
              <a:t>2,055 (2.1%)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77840" y="1234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B949E"/>
                </a:solidFill>
              </a:rPr>
              <a:t>INPUT FEATURES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77840" y="1508760"/>
            <a:ext cx="320040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577840" y="1508760"/>
            <a:ext cx="36576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0" y="15453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Revenue ($M)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138160" y="154533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58A6FF"/>
                </a:solidFill>
              </a:rPr>
              <a:t>NUM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577840" y="1828800"/>
            <a:ext cx="32004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77840" y="1828800"/>
            <a:ext cx="36576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669280" y="18653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Product Traction (Users)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38160" y="186537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58A6FF"/>
                </a:solidFill>
              </a:rPr>
              <a:t>NUM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577840" y="2148840"/>
            <a:ext cx="320040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577840" y="2148840"/>
            <a:ext cx="36576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69280" y="21854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Founder Experience (yrs)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8160" y="21854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58A6FF"/>
                </a:solidFill>
              </a:rPr>
              <a:t>NUM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577840" y="2468880"/>
            <a:ext cx="32004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577840" y="2468880"/>
            <a:ext cx="36576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69280" y="25054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Funding Rounds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138160" y="250545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58A6FF"/>
                </a:solidFill>
              </a:rPr>
              <a:t>NUM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577840" y="2788920"/>
            <a:ext cx="320040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577840" y="2788920"/>
            <a:ext cx="36576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69280" y="28254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Team Size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138160" y="28254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58A6FF"/>
                </a:solidFill>
              </a:rPr>
              <a:t>NUM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577840" y="3108960"/>
            <a:ext cx="32004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577840" y="3108960"/>
            <a:ext cx="36576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669280" y="31455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Market Size ($B)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38160" y="314553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58A6FF"/>
                </a:solidFill>
              </a:rPr>
              <a:t>NUM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577840" y="3429000"/>
            <a:ext cx="320040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577840" y="3429000"/>
            <a:ext cx="36576" cy="27432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669280" y="34655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Burn Rate ($K/mo)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138160" y="346557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58A6FF"/>
                </a:solidFill>
              </a:rPr>
              <a:t>NUM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577840" y="3749040"/>
            <a:ext cx="32004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577840" y="3749040"/>
            <a:ext cx="36576" cy="2743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669280" y="37856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Sector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138160" y="37856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C8CFF"/>
                </a:solidFill>
              </a:rPr>
              <a:t>CAT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577840" y="4069080"/>
            <a:ext cx="320040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577840" y="4069080"/>
            <a:ext cx="36576" cy="2743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669280" y="41056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Country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138160" y="410565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C8CFF"/>
                </a:solidFill>
              </a:rPr>
              <a:t>CAT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577840" y="4389120"/>
            <a:ext cx="32004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577840" y="4389120"/>
            <a:ext cx="36576" cy="27432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669280" y="44256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Funding Stage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138160" y="44256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BC8CFF"/>
                </a:solidFill>
              </a:rPr>
              <a:t>CAT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65760" y="4251960"/>
            <a:ext cx="5029200" cy="384048"/>
          </a:xfrm>
          <a:prstGeom prst="rect">
            <a:avLst/>
          </a:prstGeom>
          <a:solidFill>
            <a:srgbClr val="1C2333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57200" y="42519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3B341"/>
                </a:solidFill>
              </a:rPr>
              <a:t>TARGET   outcome  →  3 classes: Acquisition · Failure · IPO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365760" y="46451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</a:rPr>
              <a:t>Tech Stack:  Python · pandas · scikit-learn · matplotlib · seaborn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400" dirty="0">
                <a:solidFill>
                  <a:srgbClr val="8B949E"/>
                </a:solidFill>
              </a:rPr>
              <a:t>METHODOLOGY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process from raw data to evaluated model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1865376"/>
            <a:ext cx="7680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536192"/>
            <a:ext cx="640080" cy="640080"/>
          </a:xfrm>
          <a:prstGeom prst="ellipse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536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8A6FF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1280160" cy="1691640"/>
          </a:xfrm>
          <a:prstGeom prst="rect">
            <a:avLst/>
          </a:prstGeom>
          <a:solidFill>
            <a:srgbClr val="1C2333"/>
          </a:solidFill>
          <a:ln w="12700">
            <a:solidFill>
              <a:srgbClr val="58A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624" y="23591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</a:rPr>
              <a:t>Data Loading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0624" y="2706624"/>
            <a:ext cx="1170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</a:rPr>
              <a:t>100K rows read from CSV via pandas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39112" y="1536192"/>
            <a:ext cx="640080" cy="640080"/>
          </a:xfrm>
          <a:prstGeom prst="ellipse">
            <a:avLst/>
          </a:prstGeom>
          <a:solidFill>
            <a:srgbClr val="BC8CFF">
              <a:alpha val="20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39112" y="1536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C8CFF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83080" y="2286000"/>
            <a:ext cx="1280160" cy="1691640"/>
          </a:xfrm>
          <a:prstGeom prst="rect">
            <a:avLst/>
          </a:prstGeom>
          <a:solidFill>
            <a:srgbClr val="1C2333"/>
          </a:solidFill>
          <a:ln w="12700">
            <a:solidFill>
              <a:srgbClr val="BC8C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37944" y="23591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</a:rPr>
              <a:t>Data Cleaning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37944" y="2706624"/>
            <a:ext cx="1170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</a:rPr>
              <a:t>Remove nulls, strip whitespace, validate types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56432" y="1536192"/>
            <a:ext cx="640080" cy="640080"/>
          </a:xfrm>
          <a:prstGeom prst="ellipse">
            <a:avLst/>
          </a:prstGeom>
          <a:solidFill>
            <a:srgbClr val="E3B341">
              <a:alpha val="20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56432" y="1536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3B341"/>
                </a:solidFill>
              </a:rPr>
              <a:t>03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2286000"/>
            <a:ext cx="1280160" cy="1691640"/>
          </a:xfrm>
          <a:prstGeom prst="rect">
            <a:avLst/>
          </a:prstGeom>
          <a:solidFill>
            <a:srgbClr val="1C2333"/>
          </a:solidFill>
          <a:ln w="12700">
            <a:solidFill>
              <a:srgbClr val="E3B34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55264" y="23591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3B341"/>
                </a:solidFill>
              </a:rPr>
              <a:t>Encoding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55264" y="2706624"/>
            <a:ext cx="1170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</a:rPr>
              <a:t>LabelEncode 3 categorical cols; OHE considered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73752" y="1536192"/>
            <a:ext cx="640080" cy="640080"/>
          </a:xfrm>
          <a:prstGeom prst="ellipse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73752" y="1536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FB950"/>
                </a:solidFill>
              </a:rPr>
              <a:t>04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17720" y="2286000"/>
            <a:ext cx="1280160" cy="1691640"/>
          </a:xfrm>
          <a:prstGeom prst="rect">
            <a:avLst/>
          </a:prstGeom>
          <a:solidFill>
            <a:srgbClr val="1C2333"/>
          </a:solidFill>
          <a:ln w="12700">
            <a:solidFill>
              <a:srgbClr val="3FB9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72584" y="23591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</a:rPr>
              <a:t>Train/Test Split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72584" y="2706624"/>
            <a:ext cx="1170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</a:rPr>
              <a:t>80/20 stratified split preserving class ratios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91072" y="1536192"/>
            <a:ext cx="640080" cy="640080"/>
          </a:xfrm>
          <a:prstGeom prst="ellipse">
            <a:avLst/>
          </a:prstGeom>
          <a:solidFill>
            <a:srgbClr val="58A6FF">
              <a:alpha val="20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91072" y="1536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8A6FF"/>
                </a:solidFill>
              </a:rPr>
              <a:t>05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35040" y="2286000"/>
            <a:ext cx="1280160" cy="1691640"/>
          </a:xfrm>
          <a:prstGeom prst="rect">
            <a:avLst/>
          </a:prstGeom>
          <a:solidFill>
            <a:srgbClr val="1C2333"/>
          </a:solidFill>
          <a:ln w="12700">
            <a:solidFill>
              <a:srgbClr val="58A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89904" y="23591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</a:rPr>
              <a:t>Model Training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89904" y="2706624"/>
            <a:ext cx="1170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</a:rPr>
              <a:t>Logistic Regression vs Random Forest (100 trees)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708392" y="1536192"/>
            <a:ext cx="640080" cy="640080"/>
          </a:xfrm>
          <a:prstGeom prst="ellipse">
            <a:avLst/>
          </a:prstGeom>
          <a:solidFill>
            <a:srgbClr val="F85149">
              <a:alpha val="20000"/>
            </a:srgbClr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08392" y="1536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5149"/>
                </a:solidFill>
              </a:rPr>
              <a:t>06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452360" y="2286000"/>
            <a:ext cx="1280160" cy="1691640"/>
          </a:xfrm>
          <a:prstGeom prst="rect">
            <a:avLst/>
          </a:prstGeom>
          <a:solidFill>
            <a:srgbClr val="1C2333"/>
          </a:solidFill>
          <a:ln w="12700">
            <a:solidFill>
              <a:srgbClr val="F85149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507224" y="2359152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5149"/>
                </a:solidFill>
              </a:rPr>
              <a:t>Evaluation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07224" y="2706624"/>
            <a:ext cx="1170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B949E"/>
                </a:solidFill>
              </a:rPr>
              <a:t>Accuracy · Precision · Recall · F1 · Confusion Matrix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4206240"/>
            <a:ext cx="4023360" cy="457200"/>
          </a:xfrm>
          <a:prstGeom prst="rect">
            <a:avLst/>
          </a:prstGeom>
          <a:solidFill>
            <a:srgbClr val="1C2333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7200" y="4206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FB950"/>
                </a:solidFill>
              </a:rPr>
              <a:t>80,000 rows  →  TRAIN   |   20,000 rows  →  TEST   |   stratify=y  preserves 55.6/42.3/2.1% ratios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400" dirty="0">
                <a:solidFill>
                  <a:srgbClr val="8B949E"/>
                </a:solidFill>
              </a:rPr>
              <a:t>MODEL TRAINING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 Random Forest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Parameters, rationale, and code walkthrough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023360" cy="3429000"/>
          </a:xfrm>
          <a:prstGeom prst="rect">
            <a:avLst/>
          </a:prstGeom>
          <a:solidFill>
            <a:srgbClr val="1C2333"/>
          </a:solidFill>
          <a:ln w="12700">
            <a:solidFill>
              <a:srgbClr val="58A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4023360" cy="411480"/>
          </a:xfrm>
          <a:prstGeom prst="rect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58A6FF"/>
                </a:solidFill>
              </a:rPr>
              <a:t>Model 1  —  Logistic Regression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</a:rPr>
              <a:t>Accuracy: 65.20%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</a:rPr>
              <a:t>Params: max_iter=1000 · penalty=L2 · random_state=42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2402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8A6FF"/>
                </a:solidFill>
              </a:rPr>
              <a:t>Why L2?  </a:t>
            </a:r>
            <a:r>
              <a:rPr lang="en-US" sz="950" dirty="0">
                <a:solidFill>
                  <a:srgbClr val="8B949E"/>
                </a:solidFill>
              </a:rPr>
              <a:t>Shrinks coefficients to prevent overfitting on smaller feature sets. Works well when features are correlated (revenue &amp; traction).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Why LR won? </a:t>
            </a:r>
            <a:r>
              <a:rPr lang="en-US" sz="950" dirty="0">
                <a:solidFill>
                  <a:srgbClr val="8B949E"/>
                </a:solidFill>
              </a:rPr>
              <a:t>With 80K rows and limited feature interactions, linear boundaries generalize well. Classic bias–variance tradeoff—simpler model wins.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4023360" cy="3429000"/>
          </a:xfrm>
          <a:prstGeom prst="rect">
            <a:avLst/>
          </a:prstGeom>
          <a:solidFill>
            <a:srgbClr val="1C2333"/>
          </a:solidFill>
          <a:ln w="12700">
            <a:solidFill>
              <a:srgbClr val="3FB9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4023360" cy="411480"/>
          </a:xfrm>
          <a:prstGeom prst="rect">
            <a:avLst/>
          </a:prstGeom>
          <a:solidFill>
            <a:srgbClr val="3FB950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FB950"/>
                </a:solidFill>
              </a:rPr>
              <a:t>Model 2  —  Random Forest  🌟  Best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16642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FB950"/>
                </a:solidFill>
              </a:rPr>
              <a:t>Accuracy: 73.81%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920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</a:rPr>
              <a:t>Params: n_estimators=100 · max_depth=15 · criterion=gini · random_state=42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22402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FB950"/>
                </a:solidFill>
              </a:rPr>
              <a:t>Why Random Forest?  </a:t>
            </a:r>
            <a:r>
              <a:rPr lang="en-US" sz="950" dirty="0">
                <a:solidFill>
                  <a:srgbClr val="8B949E"/>
                </a:solidFill>
              </a:rPr>
              <a:t>100 trees vote democratically, reducing variance. Captures non-linear interactions between revenue, traction, and founder experience.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3017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max_depth=15  </a:t>
            </a:r>
            <a:r>
              <a:rPr lang="en-US" sz="950" dirty="0">
                <a:solidFill>
                  <a:srgbClr val="8B949E"/>
                </a:solidFill>
              </a:rPr>
              <a:t>prevents over-deep trees while still capturing complex patterns in 80K training rows.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3611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3B341"/>
                </a:solidFill>
              </a:rPr>
              <a:t>feature_importances_  </a:t>
            </a:r>
            <a:r>
              <a:rPr lang="en-US" sz="950" dirty="0">
                <a:solidFill>
                  <a:srgbClr val="8B949E"/>
                </a:solidFill>
              </a:rPr>
              <a:t>computed via mean Gini impurity decrease across all 100 trees.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400" dirty="0">
                <a:solidFill>
                  <a:srgbClr val="8B949E"/>
                </a:solidFill>
              </a:rPr>
              <a:t>RESULTS &amp; PERFORMANCE METRICS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Precision · Recall · F1-Score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234440"/>
          <a:ext cx="38404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03320"/>
          <a:ext cx="3840480" cy="8229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Log. Reg.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65.20%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0.63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0.65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0.63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FB950"/>
                          </a:solidFill>
                        </a:rPr>
                        <a:t>Rnd Forest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FB950"/>
                          </a:solidFill>
                        </a:rPr>
                        <a:t>73.81%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FB950"/>
                          </a:solidFill>
                        </a:rPr>
                        <a:t>0.74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FB950"/>
                          </a:solidFill>
                        </a:rPr>
                        <a:t>0.74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FB950"/>
                          </a:solidFill>
                        </a:rPr>
                        <a:t>0.73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480560" y="12344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8B949E"/>
                </a:solidFill>
              </a:rPr>
              <a:t>CONFUSION MATRIX — RANDOM FOREST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5376672" y="14630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949E"/>
                </a:solidFill>
              </a:rPr>
              <a:t>Pred: Acq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473952" y="14630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949E"/>
                </a:solidFill>
              </a:rPr>
              <a:t>Pred: Fail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571232" y="14630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B949E"/>
                </a:solidFill>
              </a:rPr>
              <a:t>Pred: IPO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480560" y="171907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3FB950"/>
                </a:solidFill>
              </a:rPr>
              <a:t>Act: Acq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376672" y="1719072"/>
            <a:ext cx="1051560" cy="548640"/>
          </a:xfrm>
          <a:prstGeom prst="rect">
            <a:avLst/>
          </a:prstGeom>
          <a:solidFill>
            <a:srgbClr val="3FB950">
              <a:alpha val="25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5376672" y="171907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5,544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73952" y="1719072"/>
            <a:ext cx="1051560" cy="548640"/>
          </a:xfrm>
          <a:prstGeom prst="rect">
            <a:avLst/>
          </a:prstGeom>
          <a:solidFill>
            <a:srgbClr val="F85149">
              <a:alpha val="10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473952" y="171907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2,883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571232" y="1719072"/>
            <a:ext cx="1051560" cy="548640"/>
          </a:xfrm>
          <a:prstGeom prst="rect">
            <a:avLst/>
          </a:prstGeom>
          <a:solidFill>
            <a:srgbClr val="F85149">
              <a:alpha val="10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7571232" y="171907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40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480560" y="231343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85149"/>
                </a:solidFill>
              </a:rPr>
              <a:t>Act: Fail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376672" y="2313432"/>
            <a:ext cx="1051560" cy="548640"/>
          </a:xfrm>
          <a:prstGeom prst="rect">
            <a:avLst/>
          </a:prstGeom>
          <a:solidFill>
            <a:srgbClr val="F85149">
              <a:alpha val="10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376672" y="231343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1,984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473952" y="2313432"/>
            <a:ext cx="1051560" cy="548640"/>
          </a:xfrm>
          <a:prstGeom prst="rect">
            <a:avLst/>
          </a:prstGeom>
          <a:solidFill>
            <a:srgbClr val="3FB950">
              <a:alpha val="25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473952" y="231343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9,138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7571232" y="2313432"/>
            <a:ext cx="1051560" cy="548640"/>
          </a:xfrm>
          <a:prstGeom prst="rect">
            <a:avLst/>
          </a:prstGeom>
          <a:solidFill>
            <a:srgbClr val="F85149">
              <a:alpha val="10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7571232" y="231343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0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480560" y="290779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3B341"/>
                </a:solidFill>
              </a:rPr>
              <a:t>Act: IPO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5376672" y="2907792"/>
            <a:ext cx="1051560" cy="548640"/>
          </a:xfrm>
          <a:prstGeom prst="rect">
            <a:avLst/>
          </a:prstGeom>
          <a:solidFill>
            <a:srgbClr val="F85149">
              <a:alpha val="10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5376672" y="290779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330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473952" y="2907792"/>
            <a:ext cx="1051560" cy="548640"/>
          </a:xfrm>
          <a:prstGeom prst="rect">
            <a:avLst/>
          </a:prstGeom>
          <a:solidFill>
            <a:srgbClr val="F85149">
              <a:alpha val="10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6473952" y="290779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1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7571232" y="2907792"/>
            <a:ext cx="1051560" cy="548640"/>
          </a:xfrm>
          <a:prstGeom prst="rect">
            <a:avLst/>
          </a:prstGeom>
          <a:solidFill>
            <a:srgbClr val="BC8CFF">
              <a:alpha val="25000"/>
            </a:srgbClr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7571232" y="290779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80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4480560" y="37033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E3B341"/>
                </a:solidFill>
              </a:rPr>
              <a:t>IPO class hardest to predict (only 80/411 correct) — severe class imbalance at 2.1%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400" dirty="0">
                <a:solidFill>
                  <a:srgbClr val="8B949E"/>
                </a:solidFill>
              </a:rPr>
              <a:t>FEATURE IMPORTANCE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Startup Success?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Gini importance — top predictors identified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0" y="1280160"/>
            <a:ext cx="5669280" cy="23774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0" y="1280160"/>
            <a:ext cx="5667325" cy="237744"/>
          </a:xfrm>
          <a:prstGeom prst="rect">
            <a:avLst/>
          </a:prstGeom>
          <a:solidFill>
            <a:srgbClr val="58A6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</a:rPr>
              <a:t>#1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234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Revenue ($M)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1234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8A6FF"/>
                </a:solidFill>
              </a:rPr>
              <a:t>28.99%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0" y="1627632"/>
            <a:ext cx="5669280" cy="23774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0" y="1627632"/>
            <a:ext cx="3847291" cy="237744"/>
          </a:xfrm>
          <a:prstGeom prst="rect">
            <a:avLst/>
          </a:prstGeom>
          <a:solidFill>
            <a:srgbClr val="3FB95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158191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</a:rPr>
              <a:t>#2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15819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Product Traction (Users)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0" y="158191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FB950"/>
                </a:solidFill>
              </a:rPr>
              <a:t>19.68%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0" y="1975104"/>
            <a:ext cx="5669280" cy="23774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286000" y="1975104"/>
            <a:ext cx="1929510" cy="237744"/>
          </a:xfrm>
          <a:prstGeom prst="rect">
            <a:avLst/>
          </a:prstGeom>
          <a:solidFill>
            <a:srgbClr val="BC8C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192938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</a:rPr>
              <a:t>#3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192938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Founder Experience (yrs)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46720" y="192938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C8CFF"/>
                </a:solidFill>
              </a:rPr>
              <a:t>9.87%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0" y="2322576"/>
            <a:ext cx="5669280" cy="23774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286000" y="2322576"/>
            <a:ext cx="1661686" cy="237744"/>
          </a:xfrm>
          <a:prstGeom prst="rect">
            <a:avLst/>
          </a:prstGeom>
          <a:solidFill>
            <a:srgbClr val="E3B341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227685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49E"/>
                </a:solidFill>
              </a:rPr>
              <a:t>#4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227685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</a:rPr>
              <a:t>Funding Rounds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227685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</a:rPr>
              <a:t>8.50%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0" y="2670048"/>
            <a:ext cx="5669280" cy="23774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286000" y="2670048"/>
            <a:ext cx="1407545" cy="237744"/>
          </a:xfrm>
          <a:prstGeom prst="rect">
            <a:avLst/>
          </a:prstGeom>
          <a:solidFill>
            <a:srgbClr val="58A6F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26243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49E"/>
                </a:solidFill>
              </a:rPr>
              <a:t>#5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" y="26243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</a:rPr>
              <a:t>Team Size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262432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</a:rPr>
              <a:t>7.20%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0" y="3017520"/>
            <a:ext cx="5669280" cy="23774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286000" y="3017520"/>
            <a:ext cx="1329348" cy="237744"/>
          </a:xfrm>
          <a:prstGeom prst="rect">
            <a:avLst/>
          </a:prstGeom>
          <a:solidFill>
            <a:srgbClr val="3FB95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297180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49E"/>
                </a:solidFill>
              </a:rPr>
              <a:t>#6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" y="29718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</a:rPr>
              <a:t>Market Size ($B)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46720" y="29718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</a:rPr>
              <a:t>6.80%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0" y="3364992"/>
            <a:ext cx="5669280" cy="23774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286000" y="3364992"/>
            <a:ext cx="1192504" cy="237744"/>
          </a:xfrm>
          <a:prstGeom prst="rect">
            <a:avLst/>
          </a:prstGeom>
          <a:solidFill>
            <a:srgbClr val="F85149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331927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49E"/>
                </a:solidFill>
              </a:rPr>
              <a:t>#7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" y="33192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</a:rPr>
              <a:t>Burn Rate ($K/mo)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0" y="331927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</a:rPr>
              <a:t>6.10%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86000" y="3712464"/>
            <a:ext cx="5669280" cy="23774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286000" y="3712464"/>
            <a:ext cx="1153405" cy="237744"/>
          </a:xfrm>
          <a:prstGeom prst="rect">
            <a:avLst/>
          </a:prstGeom>
          <a:solidFill>
            <a:srgbClr val="BC8CFF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5760" y="366674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49E"/>
                </a:solidFill>
              </a:rPr>
              <a:t>#8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1520" y="366674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</a:rPr>
              <a:t>Funding Stage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46720" y="366674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</a:rPr>
              <a:t>5.90%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286000" y="4059936"/>
            <a:ext cx="5669280" cy="23774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286000" y="4059936"/>
            <a:ext cx="840617" cy="237744"/>
          </a:xfrm>
          <a:prstGeom prst="rect">
            <a:avLst/>
          </a:prstGeom>
          <a:solidFill>
            <a:srgbClr val="8B949E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5760" y="401421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49E"/>
                </a:solidFill>
              </a:rPr>
              <a:t>#9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1520" y="401421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</a:rPr>
              <a:t>Country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46720" y="401421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</a:rPr>
              <a:t>4.30%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286000" y="4407408"/>
            <a:ext cx="5669280" cy="237744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286000" y="4407408"/>
            <a:ext cx="520010" cy="237744"/>
          </a:xfrm>
          <a:prstGeom prst="rect">
            <a:avLst/>
          </a:prstGeom>
          <a:solidFill>
            <a:srgbClr val="8B949E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65760" y="43616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49E"/>
                </a:solidFill>
              </a:rPr>
              <a:t>#10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1520" y="43616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</a:rPr>
              <a:t>Sector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046720" y="43616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9E"/>
                </a:solidFill>
              </a:rPr>
              <a:t>2.66%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4407408"/>
            <a:ext cx="27889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38912" y="44074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Revenue #1 (28.99%): 47% stronger signal than any other feature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291840" y="4407408"/>
            <a:ext cx="27889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364992" y="44074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Traction #2 (19.68%): User adoption validates market demand better than funding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217920" y="4407408"/>
            <a:ext cx="2788920" cy="274320"/>
          </a:xfrm>
          <a:prstGeom prst="rect">
            <a:avLst/>
          </a:prstGeom>
          <a:solidFill>
            <a:srgbClr val="1C2333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291072" y="44074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</a:rPr>
              <a:t>Country = Weakest (4.30%): AI success crosses borders uniformly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400" dirty="0">
                <a:solidFill>
                  <a:srgbClr val="8B949E"/>
                </a:solidFill>
              </a:rPr>
              <a:t>KEY FINDINGS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Models Reveal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insights from 100K startup records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4160520" cy="1572768"/>
          </a:xfrm>
          <a:prstGeom prst="rect">
            <a:avLst/>
          </a:prstGeom>
          <a:solidFill>
            <a:srgbClr val="1C2333"/>
          </a:solidFill>
          <a:ln w="12700">
            <a:solidFill>
              <a:srgbClr val="58A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58A6FF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13167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Revenue is King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3858768" cy="0"/>
          </a:xfrm>
          <a:prstGeom prst="line">
            <a:avLst/>
          </a:prstGeom>
          <a:noFill/>
          <a:ln w="12700">
            <a:solidFill>
              <a:srgbClr val="58A6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949E"/>
                </a:solidFill>
              </a:rPr>
              <a:t>Revenue ($M) is the strongest predictor at 28.99% Gini importance—nearly 3x more powerful than Founder Experience.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1207008"/>
            <a:ext cx="4160520" cy="1572768"/>
          </a:xfrm>
          <a:prstGeom prst="rect">
            <a:avLst/>
          </a:prstGeom>
          <a:solidFill>
            <a:srgbClr val="1C2333"/>
          </a:solidFill>
          <a:ln w="12700">
            <a:solidFill>
              <a:srgbClr val="3FB9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316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FB950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94960" y="13167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Random Forest Wins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1828800"/>
            <a:ext cx="3858768" cy="0"/>
          </a:xfrm>
          <a:prstGeom prst="line">
            <a:avLst/>
          </a:prstGeom>
          <a:noFill/>
          <a:ln w="12700">
            <a:solidFill>
              <a:srgbClr val="3FB95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188366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949E"/>
                </a:solidFill>
              </a:rPr>
              <a:t>73.81% accuracy vs 65.20% for Logistic Regression. Non-linear interactions between revenue and traction matter.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944368"/>
            <a:ext cx="4160520" cy="1572768"/>
          </a:xfrm>
          <a:prstGeom prst="rect">
            <a:avLst/>
          </a:prstGeom>
          <a:solidFill>
            <a:srgbClr val="1C2333"/>
          </a:solidFill>
          <a:ln w="12700">
            <a:solidFill>
              <a:srgbClr val="F85149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85149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0120" y="30540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Most Startups Fail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3566160"/>
            <a:ext cx="3858768" cy="0"/>
          </a:xfrm>
          <a:prstGeom prst="line">
            <a:avLst/>
          </a:prstGeom>
          <a:noFill/>
          <a:ln w="12700">
            <a:solidFill>
              <a:srgbClr val="F8514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62102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949E"/>
                </a:solidFill>
              </a:rPr>
              <a:t>55.6% failure rate confirmed empirically. Models can flag failure early with high recall, saving investor capital.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2944368"/>
            <a:ext cx="4160520" cy="1572768"/>
          </a:xfrm>
          <a:prstGeom prst="rect">
            <a:avLst/>
          </a:prstGeom>
          <a:solidFill>
            <a:srgbClr val="1C2333"/>
          </a:solidFill>
          <a:ln w="12700">
            <a:solidFill>
              <a:srgbClr val="E3B34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37760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3B341"/>
                </a:solidFill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94960" y="30540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IPO is the Hardest Class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37760" y="3566160"/>
            <a:ext cx="3858768" cy="0"/>
          </a:xfrm>
          <a:prstGeom prst="line">
            <a:avLst/>
          </a:prstGeom>
          <a:noFill/>
          <a:ln w="12700">
            <a:solidFill>
              <a:srgbClr val="E3B34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362102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949E"/>
                </a:solidFill>
              </a:rPr>
              <a:t>Only 80/411 IPOs predicted correctly due to severe class imbalance (2.1%). Requires SMOTE in future work.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kern="0" spc="400" dirty="0">
                <a:solidFill>
                  <a:srgbClr val="8B949E"/>
                </a:solidFill>
              </a:rPr>
              <a:t>LIMITATIONS &amp; FUTURE SCOPE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Reflection &amp; Roadmap Ahead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know, what we'll improve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023360" cy="3429000"/>
          </a:xfrm>
          <a:prstGeom prst="rect">
            <a:avLst/>
          </a:prstGeom>
          <a:solidFill>
            <a:srgbClr val="1C2333"/>
          </a:solidFill>
          <a:ln w="12700">
            <a:solidFill>
              <a:srgbClr val="F85149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5149"/>
                </a:solidFill>
              </a:rPr>
              <a:t>⚠  LIMITATIONS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5149"/>
                </a:solidFill>
              </a:rPr>
              <a:t>●  </a:t>
            </a:r>
            <a:r>
              <a:rPr lang="en-US" sz="1000" dirty="0">
                <a:solidFill>
                  <a:srgbClr val="8B949E"/>
                </a:solidFill>
              </a:rPr>
              <a:t>Class imbalance — IPO at only 2.1% skews predictions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8541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5149"/>
                </a:solidFill>
              </a:rPr>
              <a:t>●  </a:t>
            </a:r>
            <a:r>
              <a:rPr lang="en-US" sz="1000" dirty="0">
                <a:solidFill>
                  <a:srgbClr val="8B949E"/>
                </a:solidFill>
              </a:rPr>
              <a:t>Synthetic dataset — real-world noise not represented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6791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5149"/>
                </a:solidFill>
              </a:rPr>
              <a:t>●  </a:t>
            </a:r>
            <a:r>
              <a:rPr lang="en-US" sz="1000" dirty="0">
                <a:solidFill>
                  <a:srgbClr val="8B949E"/>
                </a:solidFill>
              </a:rPr>
              <a:t>LabelEncoding imposes false ordinal order on nominal categories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1729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5149"/>
                </a:solidFill>
              </a:rPr>
              <a:t>●  </a:t>
            </a:r>
            <a:r>
              <a:rPr lang="en-US" sz="1000" dirty="0">
                <a:solidFill>
                  <a:srgbClr val="8B949E"/>
                </a:solidFill>
              </a:rPr>
              <a:t>No time-based validation — potential temporal leakage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6667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5149"/>
                </a:solidFill>
              </a:rPr>
              <a:t>●  </a:t>
            </a:r>
            <a:r>
              <a:rPr lang="en-US" sz="1000" dirty="0">
                <a:solidFill>
                  <a:srgbClr val="8B949E"/>
                </a:solidFill>
              </a:rPr>
              <a:t>No hyperparameter tuning — defaults used throughout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4023360" cy="3429000"/>
          </a:xfrm>
          <a:prstGeom prst="rect">
            <a:avLst/>
          </a:prstGeom>
          <a:solidFill>
            <a:srgbClr val="1C2333"/>
          </a:solidFill>
          <a:ln w="12700">
            <a:solidFill>
              <a:srgbClr val="3FB9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3258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</a:rPr>
              <a:t>🚀  FUTURE SCOPE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6916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</a:rPr>
              <a:t>●  </a:t>
            </a:r>
            <a:r>
              <a:rPr lang="en-US" sz="1000" dirty="0">
                <a:solidFill>
                  <a:srgbClr val="8B949E"/>
                </a:solidFill>
              </a:rPr>
              <a:t>SMOTE oversampling to handle IPO class imbalance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148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</a:rPr>
              <a:t>●  </a:t>
            </a:r>
            <a:r>
              <a:rPr lang="en-US" sz="1000" dirty="0">
                <a:solidFill>
                  <a:srgbClr val="8B949E"/>
                </a:solidFill>
              </a:rPr>
              <a:t>XGBoost / LightGBM for better non-linear pattern capture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2606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</a:rPr>
              <a:t>●  </a:t>
            </a:r>
            <a:r>
              <a:rPr lang="en-US" sz="1000" dirty="0">
                <a:solidFill>
                  <a:srgbClr val="8B949E"/>
                </a:solidFill>
              </a:rPr>
              <a:t>k-fold cross-validation for more robust model evaluation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3063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</a:rPr>
              <a:t>●  </a:t>
            </a:r>
            <a:r>
              <a:rPr lang="en-US" sz="1000" dirty="0">
                <a:solidFill>
                  <a:srgbClr val="8B949E"/>
                </a:solidFill>
              </a:rPr>
              <a:t>NLP features extracted from investor pitch descriptions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3520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</a:rPr>
              <a:t>●  </a:t>
            </a:r>
            <a:r>
              <a:rPr lang="en-US" sz="1000" dirty="0">
                <a:solidFill>
                  <a:srgbClr val="8B949E"/>
                </a:solidFill>
              </a:rPr>
              <a:t>Deploy as FastAPI + React web application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39776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B950"/>
                </a:solidFill>
              </a:rPr>
              <a:t>●  </a:t>
            </a:r>
            <a:r>
              <a:rPr lang="en-US" sz="1000" dirty="0">
                <a:solidFill>
                  <a:srgbClr val="8B949E"/>
                </a:solidFill>
              </a:rPr>
              <a:t>Expand to 500K+ records via Crunchbase API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58A6FF">
              <a:alpha val="8000"/>
            </a:srgbClr>
          </a:solidFill>
          <a:ln w="12700">
            <a:solidFill>
              <a:srgbClr val="58A6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-731520"/>
            <a:ext cx="3200400" cy="3200400"/>
          </a:xfrm>
          <a:prstGeom prst="ellipse">
            <a:avLst/>
          </a:prstGeom>
          <a:solidFill>
            <a:srgbClr val="3FB950">
              <a:alpha val="10000"/>
            </a:srgbClr>
          </a:solidFill>
          <a:ln w="12700">
            <a:solidFill>
              <a:srgbClr val="3FB95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0" dirty="0">
                <a:solidFill>
                  <a:srgbClr val="58A6FF"/>
                </a:solidFill>
              </a:rPr>
              <a:t>CONCLUSION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Can Predict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Outcomes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49E"/>
                </a:solidFill>
              </a:rPr>
              <a:t>Random Forest achieved 73.81% accuracy across 100,000 startups—predicting Acquisition, IPO, or Failure from early-stage operational metrics, before market outcomes are known.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2578608"/>
            <a:ext cx="2194560" cy="1188720"/>
          </a:xfrm>
          <a:prstGeom prst="rect">
            <a:avLst/>
          </a:prstGeom>
          <a:solidFill>
            <a:srgbClr val="1C2333"/>
          </a:solidFill>
          <a:ln w="12700">
            <a:solidFill>
              <a:srgbClr val="3FB9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26334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FB950"/>
                </a:solidFill>
              </a:rPr>
              <a:t>73.8%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05840" y="3127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Best Accuracy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(Random Forest)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66160" y="2578608"/>
            <a:ext cx="2194560" cy="1188720"/>
          </a:xfrm>
          <a:prstGeom prst="rect">
            <a:avLst/>
          </a:prstGeom>
          <a:solidFill>
            <a:srgbClr val="1C2333"/>
          </a:solidFill>
          <a:ln w="12700">
            <a:solidFill>
              <a:srgbClr val="58A6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6160" y="26334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8A6FF"/>
                </a:solidFill>
              </a:rPr>
              <a:t>#1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66160" y="3127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Revenue ($M)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Top Predictor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2578608"/>
            <a:ext cx="2194560" cy="1188720"/>
          </a:xfrm>
          <a:prstGeom prst="rect">
            <a:avLst/>
          </a:prstGeom>
          <a:solidFill>
            <a:srgbClr val="1C2333"/>
          </a:solidFill>
          <a:ln w="12700">
            <a:solidFill>
              <a:srgbClr val="E3B34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26334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3B341"/>
                </a:solidFill>
              </a:rPr>
              <a:t>2.1%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3127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IPO Rate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Hardest to Predict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1040</Words>
  <Application>Microsoft Macintosh PowerPoint</Application>
  <PresentationFormat>On-screen Show (16:9)</PresentationFormat>
  <Paragraphs>221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Success Prediction System</dc:title>
  <dc:subject>PptxGenJS Presentation</dc:subject>
  <dc:creator>Laksh Arora</dc:creator>
  <cp:lastModifiedBy>Laksh Arora [CSE - 2024]</cp:lastModifiedBy>
  <cp:revision>2</cp:revision>
  <dcterms:created xsi:type="dcterms:W3CDTF">2026-04-13T03:53:12Z</dcterms:created>
  <dcterms:modified xsi:type="dcterms:W3CDTF">2026-05-30T06:09:20Z</dcterms:modified>
</cp:coreProperties>
</file>