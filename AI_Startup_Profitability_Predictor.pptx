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0F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66.7</c:v>
                </c:pt>
                <c:pt idx="1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0F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A26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6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%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0F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AD4F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AD4F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A3C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BA3C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AI Model Type</c:v>
                  </c:pt>
                  <c:pt idx="1">
                    <c:v>Industry / App</c:v>
                  </c:pt>
                  <c:pt idx="2">
                    <c:v>Funding Stage</c:v>
                  </c:pt>
                  <c:pt idx="3">
                    <c:v>Valuation</c:v>
                  </c:pt>
                  <c:pt idx="4">
                    <c:v>Funding Amt</c:v>
                  </c:pt>
                  <c:pt idx="5">
                    <c:v>Employees</c:v>
                  </c:pt>
                  <c:pt idx="6">
                    <c:v>Year</c:v>
                  </c:pt>
                  <c:pt idx="7">
                    <c:v>Country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18.22</c:v>
                </c:pt>
                <c:pt idx="1">
                  <c:v>16.69</c:v>
                </c:pt>
                <c:pt idx="2">
                  <c:v>15.15</c:v>
                </c:pt>
                <c:pt idx="3">
                  <c:v>12.72</c:v>
                </c:pt>
                <c:pt idx="4">
                  <c:v>11.72</c:v>
                </c:pt>
                <c:pt idx="5">
                  <c:v>10.66</c:v>
                </c:pt>
                <c:pt idx="6">
                  <c:v>8.72</c:v>
                </c:pt>
                <c:pt idx="7">
                  <c:v>6.12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0F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26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3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6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82880"/>
            <a:ext cx="2743200" cy="2743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457200"/>
            <a:ext cx="1828800" cy="201168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57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 2026  ·  CSE  ·  MUJ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347472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Startup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Predictor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47472" y="2542032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funding metadata predict startup success — before market outcomes are known?"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1993392" cy="841248"/>
          </a:xfrm>
          <a:prstGeom prst="rect">
            <a:avLst/>
          </a:prstGeom>
          <a:solidFill>
            <a:srgbClr val="1A2640"/>
          </a:solidFill>
          <a:ln w="12700">
            <a:solidFill>
              <a:srgbClr val="BAD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3246120"/>
            <a:ext cx="1993392" cy="64008"/>
          </a:xfrm>
          <a:prstGeom prst="rect">
            <a:avLst/>
          </a:prstGeom>
          <a:solidFill>
            <a:srgbClr val="BAD4F5"/>
          </a:solidFill>
          <a:ln w="12700">
            <a:solidFill>
              <a:srgbClr val="BAD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33756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AD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7472" y="379476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96312" y="3246120"/>
            <a:ext cx="1993392" cy="841248"/>
          </a:xfrm>
          <a:prstGeom prst="rect">
            <a:avLst/>
          </a:prstGeom>
          <a:solidFill>
            <a:srgbClr val="1A26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96312" y="3246120"/>
            <a:ext cx="199339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333756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496312" y="379476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45152" y="3246120"/>
            <a:ext cx="1993392" cy="841248"/>
          </a:xfrm>
          <a:prstGeom prst="rect">
            <a:avLst/>
          </a:prstGeom>
          <a:solidFill>
            <a:srgbClr val="1A264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3246120"/>
            <a:ext cx="1993392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333756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45152" y="379476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793992" y="3246120"/>
            <a:ext cx="1993392" cy="841248"/>
          </a:xfrm>
          <a:prstGeom prst="rect">
            <a:avLst/>
          </a:prstGeom>
          <a:solidFill>
            <a:srgbClr val="1A264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93992" y="3246120"/>
            <a:ext cx="1993392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333756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793992" y="379476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484632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 Arora  ·  Reg: 2427030030  ·  Guide: Dr. Amit Kumar Gupta  ·  Manipal University Jaipur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54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92608" y="4206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predicting AI startup profitability matters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743200" cy="3977640"/>
          </a:xfrm>
          <a:prstGeom prst="rect">
            <a:avLst/>
          </a:prstGeom>
          <a:solidFill>
            <a:srgbClr val="1A26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64008" cy="3977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6012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ventures fail to reach profitability within 5 years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377440"/>
            <a:ext cx="2103120" cy="0"/>
          </a:xfrm>
          <a:prstGeom prst="line">
            <a:avLst/>
          </a:prstGeom>
          <a:noFill/>
          <a:ln w="12700">
            <a:solidFill>
              <a:srgbClr val="2A3F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68880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lack a data-driven early-warning signal. This project builds a binary classifier that predicts profitability from funding metadata — before outcomes are known.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868680"/>
            <a:ext cx="5440680" cy="1874520"/>
          </a:xfrm>
          <a:prstGeom prst="rect">
            <a:avLst/>
          </a:prstGeom>
          <a:solidFill>
            <a:srgbClr val="1A264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868680"/>
            <a:ext cx="64008" cy="18745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9326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Gap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02152" y="1261872"/>
            <a:ext cx="51389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 Insights 2023 &amp; Crunchbase AI 2024 rely on qualitative scoring. Antretter et al. (2019) achieved ~62% AUC on general startups — never applied to AI-domain subsets with AI-specific features.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2880360"/>
            <a:ext cx="5440680" cy="1965960"/>
          </a:xfrm>
          <a:prstGeom prst="rect">
            <a:avLst/>
          </a:prstGeom>
          <a:solidFill>
            <a:srgbClr val="1A264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2880360"/>
            <a:ext cx="64008" cy="1965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29443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Innovation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02152" y="3273552"/>
            <a:ext cx="513892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work combines AI-domain features (AI Model Type, Industry AI Application) with classical funding signals. Our dataset covers the AI sector exclusively (2020–2023) enabling sector-specific predictions.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54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92608" y="4206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AI startups · 2020–2023 · 8 features · 1 binary target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029968" cy="1463040"/>
          </a:xfrm>
          <a:prstGeom prst="rect">
            <a:avLst/>
          </a:prstGeom>
          <a:solidFill>
            <a:srgbClr val="1A2640"/>
          </a:solidFill>
          <a:ln w="12700">
            <a:solidFill>
              <a:srgbClr val="BAD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2029968" cy="64008"/>
          </a:xfrm>
          <a:prstGeom prst="rect">
            <a:avLst/>
          </a:prstGeom>
          <a:solidFill>
            <a:srgbClr val="BAD4F5"/>
          </a:solidFill>
          <a:ln w="12700">
            <a:solidFill>
              <a:srgbClr val="BAD4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41248"/>
            <a:ext cx="2029968" cy="219456"/>
          </a:xfrm>
          <a:prstGeom prst="rect">
            <a:avLst/>
          </a:prstGeom>
          <a:solidFill>
            <a:srgbClr val="BAD4F5">
              <a:alpha val="22000"/>
            </a:srgbClr>
          </a:solidFill>
          <a:ln w="12700">
            <a:solidFill>
              <a:srgbClr val="BAD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4124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BA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75488" y="111556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Industry_AI_Application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1444752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the startup operates 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42032" y="841248"/>
            <a:ext cx="2029968" cy="1463040"/>
          </a:xfrm>
          <a:prstGeom prst="rect">
            <a:avLst/>
          </a:prstGeom>
          <a:solidFill>
            <a:srgbClr val="1A2640"/>
          </a:solidFill>
          <a:ln w="12700">
            <a:solidFill>
              <a:srgbClr val="BAD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841248"/>
            <a:ext cx="2029968" cy="64008"/>
          </a:xfrm>
          <a:prstGeom prst="rect">
            <a:avLst/>
          </a:prstGeom>
          <a:solidFill>
            <a:srgbClr val="BAD4F5"/>
          </a:solidFill>
          <a:ln w="12700">
            <a:solidFill>
              <a:srgbClr val="BAD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841248"/>
            <a:ext cx="2029968" cy="219456"/>
          </a:xfrm>
          <a:prstGeom prst="rect">
            <a:avLst/>
          </a:prstGeom>
          <a:solidFill>
            <a:srgbClr val="BAD4F5">
              <a:alpha val="22000"/>
            </a:srgbClr>
          </a:solidFill>
          <a:ln w="12700">
            <a:solidFill>
              <a:srgbClr val="BAD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84124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BA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651760" y="111556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1444752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country — USA, UK, Germany…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18304" y="841248"/>
            <a:ext cx="2029968" cy="1463040"/>
          </a:xfrm>
          <a:prstGeom prst="rect">
            <a:avLst/>
          </a:prstGeom>
          <a:solidFill>
            <a:srgbClr val="1A264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18304" y="841248"/>
            <a:ext cx="202996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18304" y="841248"/>
            <a:ext cx="2029968" cy="219456"/>
          </a:xfrm>
          <a:prstGeom prst="rect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84124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828032" y="111556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Funding_Stage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28032" y="1444752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A/B/C/D/E/F, IPO, Acquired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94576" y="841248"/>
            <a:ext cx="2029968" cy="1463040"/>
          </a:xfrm>
          <a:prstGeom prst="rect">
            <a:avLst/>
          </a:prstGeom>
          <a:solidFill>
            <a:srgbClr val="1A264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94576" y="841248"/>
            <a:ext cx="202996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94576" y="841248"/>
            <a:ext cx="2029968" cy="219456"/>
          </a:xfrm>
          <a:prstGeom prst="rect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94576" y="84124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7004304" y="1115568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AI_Model_Type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04304" y="1444752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technology (LLM, CV, RL…)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450592"/>
            <a:ext cx="2029968" cy="1463040"/>
          </a:xfrm>
          <a:prstGeom prst="rect">
            <a:avLst/>
          </a:prstGeom>
          <a:solidFill>
            <a:srgbClr val="1A264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2450592"/>
            <a:ext cx="2029968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450592"/>
            <a:ext cx="2029968" cy="219456"/>
          </a:xfrm>
          <a:prstGeom prst="rect">
            <a:avLst/>
          </a:prstGeom>
          <a:solidFill>
            <a:srgbClr val="22D3EE">
              <a:alpha val="2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45059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75488" y="272491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Valuation ($M)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" y="3054096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valuation in millions USD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42032" y="2450592"/>
            <a:ext cx="2029968" cy="1463040"/>
          </a:xfrm>
          <a:prstGeom prst="rect">
            <a:avLst/>
          </a:prstGeom>
          <a:solidFill>
            <a:srgbClr val="1A264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42032" y="2450592"/>
            <a:ext cx="2029968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42032" y="2450592"/>
            <a:ext cx="2029968" cy="219456"/>
          </a:xfrm>
          <a:prstGeom prst="rect">
            <a:avLst/>
          </a:prstGeom>
          <a:solidFill>
            <a:srgbClr val="22D3EE">
              <a:alpha val="2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245059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2651760" y="272491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Funding_Amount ($M)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651760" y="3054096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 raised, millions USD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18304" y="2450592"/>
            <a:ext cx="2029968" cy="1463040"/>
          </a:xfrm>
          <a:prstGeom prst="rect">
            <a:avLst/>
          </a:prstGeom>
          <a:solidFill>
            <a:srgbClr val="1A264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18304" y="2450592"/>
            <a:ext cx="2029968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18304" y="2450592"/>
            <a:ext cx="2029968" cy="219456"/>
          </a:xfrm>
          <a:prstGeom prst="rect">
            <a:avLst/>
          </a:prstGeom>
          <a:solidFill>
            <a:srgbClr val="34D399">
              <a:alpha val="2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18304" y="245059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828032" y="272491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Employee_Count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28032" y="3054096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employee headcount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94576" y="2450592"/>
            <a:ext cx="2029968" cy="1463040"/>
          </a:xfrm>
          <a:prstGeom prst="rect">
            <a:avLst/>
          </a:prstGeom>
          <a:solidFill>
            <a:srgbClr val="1A264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94576" y="2450592"/>
            <a:ext cx="2029968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94576" y="2450592"/>
            <a:ext cx="2029968" cy="219456"/>
          </a:xfrm>
          <a:prstGeom prst="rect">
            <a:avLst/>
          </a:prstGeom>
          <a:solidFill>
            <a:srgbClr val="34D399">
              <a:alpha val="2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245059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7004304" y="272491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04304" y="3054096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the funding round (2020–2023)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4206240"/>
            <a:ext cx="8430768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31596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→  Profitability (binary)  ·  1 = Profitable (22 · 37%)  ·  0 = Not Profitable (38 · 63%)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54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Load &amp; Encode Data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92608" y="4206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CSV and converting categorical columns to numbers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4206240" cy="1389888"/>
          </a:xfrm>
          <a:prstGeom prst="rect">
            <a:avLst/>
          </a:prstGeom>
          <a:solidFill>
            <a:srgbClr val="090F1C"/>
          </a:solidFill>
          <a:ln w="12700">
            <a:solidFill>
              <a:srgbClr val="2A3F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50292" cy="1389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40416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LabelEncoder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pd.read_csv("ai_startup_funding.csv")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 = df.columns.str.strip()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df["Profitability"] = df["Profitability"].map(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{"TRUE": 1, "FALSE": 0})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42062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276856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CSV, strip whitespace, convert TRUE/FALSE to 1/0.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4206240" cy="1261872"/>
          </a:xfrm>
          <a:prstGeom prst="rect">
            <a:avLst/>
          </a:prstGeom>
          <a:solidFill>
            <a:srgbClr val="090F1C"/>
          </a:solidFill>
          <a:ln w="12700">
            <a:solidFill>
              <a:srgbClr val="2A3F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05456"/>
            <a:ext cx="50292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78608"/>
            <a:ext cx="40416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cat_cols = ["Industry_AI_Application",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"Country", "Funding_Stage",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"AI_Model_Type"]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= LabelEncoder()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cat_cols: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df[col] = le.fit_transform(df[col].astype(str))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803904"/>
            <a:ext cx="42062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81304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converts text categories to integer codes so sklearn can process them.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0600" y="841248"/>
            <a:ext cx="3977640" cy="2944368"/>
          </a:xfrm>
          <a:prstGeom prst="rect">
            <a:avLst/>
          </a:prstGeom>
          <a:solidFill>
            <a:srgbClr val="1A264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841248"/>
            <a:ext cx="64008" cy="2944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steps?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12984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65192" y="1517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may have hidden spaces from Excel exports — this prevents KeyError crashes.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65192" y="18928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TRUE/FALSE → 1/0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65192" y="2112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column is boolean text. ML models need numeric 0/1, not strings.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65192" y="24871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LabelEncoder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65192" y="2706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'Series A', 'Series B'… into 0, 1, 2… Sklearn estimators require all-numeric input.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65192" y="30815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65192" y="3300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LabelEncoding implies false order (Germany=1 &gt; USA=0). OneHotEncoding is safer but expands dimensionality on 60-row data.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904488"/>
            <a:ext cx="8430768" cy="502920"/>
          </a:xfrm>
          <a:prstGeom prst="rect">
            <a:avLst/>
          </a:prstGeom>
          <a:solidFill>
            <a:srgbClr val="1A1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986784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Limitation: LabelEncoding imposes artificial ordinal relationships on nominal categories. Future work should use OneHotEncoding + PCA to avoid this.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54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Feature Selection &amp; Train/Test Split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92608" y="4206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inputs and dividing data for unbiased evaluation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4572000" cy="1508760"/>
          </a:xfrm>
          <a:prstGeom prst="rect">
            <a:avLst/>
          </a:prstGeom>
          <a:solidFill>
            <a:srgbClr val="090F1C"/>
          </a:solidFill>
          <a:ln w="12700">
            <a:solidFill>
              <a:srgbClr val="2A3F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5029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440740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= ["Industry_AI_Application","Country",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"Funding_Stage","Valuation ($M)",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"Funding_Amount ($M)","Year",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"Employee_Count","AI_Model_Type"]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df[features];  y = df["Profitability"]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2386584"/>
            <a:ext cx="45720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395728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8 input features and separate target variable y.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4572000" cy="1207008"/>
          </a:xfrm>
          <a:prstGeom prst="rect">
            <a:avLst/>
          </a:prstGeom>
          <a:solidFill>
            <a:srgbClr val="090F1C"/>
          </a:solidFill>
          <a:ln w="12700">
            <a:solidFill>
              <a:srgbClr val="2A3F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78608"/>
            <a:ext cx="50292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51760"/>
            <a:ext cx="44074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test_size   = 0.20,   # 12 test rows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 42,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stratify    = y)      # preserve 63/37 ratio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822192"/>
            <a:ext cx="45720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831336"/>
            <a:ext cx="4407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stratify=y ensures both splits keep the same class ratio — critical with imbalanced data.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841248"/>
            <a:ext cx="3611880" cy="1325880"/>
          </a:xfrm>
          <a:prstGeom prst="rect">
            <a:avLst/>
          </a:prstGeom>
          <a:solidFill>
            <a:srgbClr val="1A264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66360" y="841248"/>
            <a:ext cx="361188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8961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rows → TRAIN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21808" y="124358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patterns from these rows.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~63% Not Profitable · ~37% Profitable (stratified)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66360" y="2304288"/>
            <a:ext cx="3611880" cy="1325880"/>
          </a:xfrm>
          <a:prstGeom prst="rect">
            <a:avLst/>
          </a:prstGeom>
          <a:solidFill>
            <a:srgbClr val="1A264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66360" y="2304288"/>
            <a:ext cx="36118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23591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rows → TEST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21808" y="270662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 completely — model never sees these.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to measure final accuracy.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913632"/>
            <a:ext cx="8430768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0352" y="4005072"/>
            <a:ext cx="8101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stratify?  Without it, a random split could place all 'Profitable' rows in training — giving inflated or collapsed test accuracy that doesn't reflect real-world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54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Training the Models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92608" y="4206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 Random Forest — parameters and rationale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4206240" cy="777240"/>
          </a:xfrm>
          <a:prstGeom prst="rect">
            <a:avLst/>
          </a:prstGeom>
          <a:solidFill>
            <a:srgbClr val="1A264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64008" cy="7772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 — Logistic Regression 🏆  ·  Accuracy: 66.7%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24358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max_iter=1000  ·  L2 regularisation  ·  random_state=42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206240" cy="960120"/>
          </a:xfrm>
          <a:prstGeom prst="rect">
            <a:avLst/>
          </a:prstGeom>
          <a:solidFill>
            <a:srgbClr val="090F1C"/>
          </a:solidFill>
          <a:ln w="12700">
            <a:solidFill>
              <a:srgbClr val="2A3F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37360"/>
            <a:ext cx="5029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10512"/>
            <a:ext cx="404164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LogisticRegression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 = LogisticRegression(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max_iter=1000, penalty="l2", random_state=42)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lr.fit(X_train, y_train)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734056"/>
            <a:ext cx="42062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74320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penalty shrinks coefficients to prevent overfitting on small data.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73168" y="841248"/>
            <a:ext cx="4005072" cy="777240"/>
          </a:xfrm>
          <a:prstGeom prst="rect">
            <a:avLst/>
          </a:prstGeom>
          <a:solidFill>
            <a:srgbClr val="1A264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841248"/>
            <a:ext cx="64008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89611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 — Random Forest  ·  Accuracy: 50.0%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24358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  ·  max_depth=5  ·  Gini criterion  ·  random_state=42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73168" y="1737360"/>
            <a:ext cx="4005072" cy="960120"/>
          </a:xfrm>
          <a:prstGeom prst="rect">
            <a:avLst/>
          </a:prstGeom>
          <a:solidFill>
            <a:srgbClr val="090F1C"/>
          </a:solidFill>
          <a:ln w="12700">
            <a:solidFill>
              <a:srgbClr val="2A3F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1737360"/>
            <a:ext cx="5029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810512"/>
            <a:ext cx="38404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= RandomForestClassifier(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n_estimators=100, max_depth=5,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criterion="gini", random_state=42)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rf.fit(X_train, y_train)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73168" y="2734056"/>
            <a:ext cx="4005072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27432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max_depth=5 caps tree growth to reduce overfitting on 60-row data.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852928"/>
            <a:ext cx="8430768" cy="1078992"/>
          </a:xfrm>
          <a:prstGeom prst="rect">
            <a:avLst/>
          </a:prstGeom>
          <a:solidFill>
            <a:srgbClr val="090F1C"/>
          </a:solidFill>
          <a:ln w="12700">
            <a:solidFill>
              <a:srgbClr val="2A3F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52928"/>
            <a:ext cx="50292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26080"/>
            <a:ext cx="82661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accuracy_score, classification_report, confusion_matrix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model in [("Logistic Regression", lr), ("Random Forest", rf)]: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y_pred = model.predict(X_test)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print(f"{name}: {accuracy_score(y_test, y_pred):.1%}")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print(classification_report(y_test, y_pred, target_names=["Not Profitable","Profitable"]))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65760" y="3968496"/>
            <a:ext cx="843076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977640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classification_report gives precision, recall, and F1 for each class — more informative than accuracy alone on imbalanced data.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8430768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0352" y="4187952"/>
            <a:ext cx="8101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Logistic Regression win?  With only 60 training rows, Random Forest (100 trees) overfits — each tree sees very few samples. Simpler models generalise better on small datasets: classic bias-variance tradeoff.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54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Performance Metrics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92608" y="4206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Precision · Recall · F1 · Confusion Matrix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841248"/>
          <a:ext cx="4160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91840"/>
          <a:ext cx="8430768" cy="123444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57276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709160" y="841248"/>
            <a:ext cx="4087368" cy="2286000"/>
          </a:xfrm>
          <a:prstGeom prst="rect">
            <a:avLst/>
          </a:prstGeom>
          <a:solidFill>
            <a:srgbClr val="1A26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709160" y="841248"/>
            <a:ext cx="40873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28032" y="896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Logistic Regression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8032" y="1234440"/>
          <a:ext cx="3840480" cy="1719072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</a:tblGrid>
              <a:tr h="573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B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B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B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Act: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0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BA3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Act: 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6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1A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4709160" y="3035808"/>
            <a:ext cx="4087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correct 'No' · 1 correct 'Yes' · 3 false negatives (predicted No, actually Yes)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54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— Random Forest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92608" y="4206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signals drive profitability prediction the most?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841248"/>
          <a:ext cx="4572000" cy="3730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166360" y="841248"/>
            <a:ext cx="3630168" cy="1463040"/>
          </a:xfrm>
          <a:prstGeom prst="rect">
            <a:avLst/>
          </a:prstGeom>
          <a:solidFill>
            <a:srgbClr val="090F1C"/>
          </a:solidFill>
          <a:ln w="12700">
            <a:solidFill>
              <a:srgbClr val="2A3F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166360" y="841248"/>
            <a:ext cx="5029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57800" y="914400"/>
            <a:ext cx="34655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importances = rf.feature_importances_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indices = np.argsort(importances)[::-1]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rank, idx in enumerate(indices, 1):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print(f"{rank}. 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f"{X.columns[idx]}: 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f"{importances[idx]:.4f}")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5166360" y="2340864"/>
            <a:ext cx="363016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76088" y="2350008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feature_importances_ gives each feature's Gini gain contribution across all 100 trees.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166360" y="2487168"/>
            <a:ext cx="3630168" cy="457200"/>
          </a:xfrm>
          <a:prstGeom prst="rect">
            <a:avLst/>
          </a:prstGeom>
          <a:solidFill>
            <a:srgbClr val="1A26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66360" y="2487168"/>
            <a:ext cx="6400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30952" y="2542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  AI Model Type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90688" y="2542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18.2%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30952" y="272491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 matters more than capital raised.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166360" y="3017520"/>
            <a:ext cx="3630168" cy="457200"/>
          </a:xfrm>
          <a:prstGeom prst="rect">
            <a:avLst/>
          </a:prstGeom>
          <a:solidFill>
            <a:srgbClr val="1A264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166360" y="3017520"/>
            <a:ext cx="64008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30952" y="30723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  Industry / App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790688" y="30723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330952" y="3255264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determines market dynamics and margins.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166360" y="3547872"/>
            <a:ext cx="3630168" cy="457200"/>
          </a:xfrm>
          <a:prstGeom prst="rect">
            <a:avLst/>
          </a:prstGeom>
          <a:solidFill>
            <a:srgbClr val="1A2640"/>
          </a:solidFill>
          <a:ln w="12700">
            <a:solidFill>
              <a:srgbClr val="BAD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166360" y="3547872"/>
            <a:ext cx="64008" cy="457200"/>
          </a:xfrm>
          <a:prstGeom prst="rect">
            <a:avLst/>
          </a:prstGeom>
          <a:solidFill>
            <a:srgbClr val="BAD4F5"/>
          </a:solidFill>
          <a:ln w="12700">
            <a:solidFill>
              <a:srgbClr val="BAD4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30952" y="36027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AD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  Funding Stage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790688" y="36027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AD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30952" y="378561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Later-stage = stronger validation signal.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66360" y="4078224"/>
            <a:ext cx="3630168" cy="457200"/>
          </a:xfrm>
          <a:prstGeom prst="rect">
            <a:avLst/>
          </a:prstGeom>
          <a:solidFill>
            <a:srgbClr val="1A2640"/>
          </a:solidFill>
          <a:ln w="12700">
            <a:solidFill>
              <a:srgbClr val="8BA3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166360" y="4078224"/>
            <a:ext cx="64008" cy="457200"/>
          </a:xfrm>
          <a:prstGeom prst="rect">
            <a:avLst/>
          </a:prstGeom>
          <a:solidFill>
            <a:srgbClr val="8BA3C0"/>
          </a:solidFill>
          <a:ln w="12700">
            <a:solidFill>
              <a:srgbClr val="8BA3C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30952" y="4133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A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  Country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790688" y="41330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A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30952" y="431596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is the weakest predictor — AI success is global.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54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92608" y="4206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models reveal about AI startup profitability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4251960" cy="1847088"/>
          </a:xfrm>
          <a:prstGeom prst="rect">
            <a:avLst/>
          </a:prstGeom>
          <a:solidFill>
            <a:srgbClr val="1A26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64008" cy="18470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969264"/>
            <a:ext cx="502920" cy="34747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692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98755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 Type is #1 Predictor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18.22% Gini importance — the core technology a startup uses predicts profitability better than how much money it raised.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73168" y="841248"/>
            <a:ext cx="4251960" cy="1847088"/>
          </a:xfrm>
          <a:prstGeom prst="rect">
            <a:avLst/>
          </a:prstGeom>
          <a:solidFill>
            <a:srgbClr val="1A264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841248"/>
            <a:ext cx="64008" cy="184708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82896" y="969264"/>
            <a:ext cx="502920" cy="347472"/>
          </a:xfrm>
          <a:prstGeom prst="rect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9692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04688" y="98755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&gt; Complex on Small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6048" y="1408176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(66.7%) outperformed Random Forest (50%). With 60 rows, ensembles overfit — a textbook bias-variance tradeoff.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4251960" cy="1847088"/>
          </a:xfrm>
          <a:prstGeom prst="rect">
            <a:avLst/>
          </a:prstGeom>
          <a:solidFill>
            <a:srgbClr val="1A264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34640"/>
            <a:ext cx="64008" cy="18470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962656"/>
            <a:ext cx="502920" cy="347472"/>
          </a:xfrm>
          <a:prstGeom prst="rect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9626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298094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Recall for 'Fail' Class — 0.88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401568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catches most failing startups. For investors, missing a failure is more costly than missing a success, making recall the key metric.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2834640"/>
            <a:ext cx="4251960" cy="1847088"/>
          </a:xfrm>
          <a:prstGeom prst="rect">
            <a:avLst/>
          </a:prstGeom>
          <a:solidFill>
            <a:srgbClr val="1A264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2834640"/>
            <a:ext cx="64008" cy="18470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82896" y="2962656"/>
            <a:ext cx="502920" cy="347472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29626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298094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is the Weakest Signal — 6.1%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56048" y="3401568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barely matters. AI startup outcomes are shaped by technology and domain, not location — the ecosystem is globally uniform.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548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92608" y="4206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reflection and the roadmap ahead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4114800" cy="3218688"/>
          </a:xfrm>
          <a:prstGeom prst="rect">
            <a:avLst/>
          </a:prstGeom>
          <a:solidFill>
            <a:srgbClr val="1A2640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41248"/>
            <a:ext cx="64008" cy="321868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9144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Limitations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376732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(60 rows) — low statistical confidence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(63% Not Profitable) skews toward majority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LabelEncoding imposes false ordinal order on nominal categories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train/test split — potential leakage from future funding rounds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tuning — default parameters used throughout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1728" y="841248"/>
            <a:ext cx="4114800" cy="3218688"/>
          </a:xfrm>
          <a:prstGeom prst="rect">
            <a:avLst/>
          </a:prstGeom>
          <a:solidFill>
            <a:srgbClr val="1A264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841248"/>
            <a:ext cx="64008" cy="321868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Future Scope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794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500+ records via Crunchbase API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SMOTE to handle class imbalance before training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 for more robust evaluation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XGBoost / LightGBM for better non-linear pattern capture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features extracted from investor pitch descriptions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FastAPI + React web application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4206240"/>
            <a:ext cx="8430768" cy="548640"/>
          </a:xfrm>
          <a:prstGeom prst="rect">
            <a:avLst/>
          </a:prstGeom>
          <a:solidFill>
            <a:srgbClr val="090F1C"/>
          </a:solidFill>
          <a:ln w="12700">
            <a:solidFill>
              <a:srgbClr val="2A3F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4206240"/>
            <a:ext cx="50292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79392"/>
            <a:ext cx="8266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imblearn.over_sampling import SMOTE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5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X_res, y_res = SMOTE(random_state=42).fit_resample(X_train, y_train)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4791456"/>
            <a:ext cx="843076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800600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synthesises new minority-class samples rather than just duplicating them — reduces bias without discarding data.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1E3A5F">
              <a:alpha val="70000"/>
            </a:srgbClr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749808"/>
            <a:ext cx="2788920" cy="841248"/>
          </a:xfrm>
          <a:prstGeom prst="rect">
            <a:avLst/>
          </a:prstGeom>
          <a:solidFill>
            <a:srgbClr val="1A2640"/>
          </a:solidFill>
          <a:ln w="12700">
            <a:solidFill>
              <a:srgbClr val="BAD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749808"/>
            <a:ext cx="2788920" cy="64008"/>
          </a:xfrm>
          <a:prstGeom prst="rect">
            <a:avLst/>
          </a:prstGeom>
          <a:solidFill>
            <a:srgbClr val="BAD4F5"/>
          </a:solidFill>
          <a:ln w="12700">
            <a:solidFill>
              <a:srgbClr val="BAD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5953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AD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3.10+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749808"/>
            <a:ext cx="2788920" cy="841248"/>
          </a:xfrm>
          <a:prstGeom prst="rect">
            <a:avLst/>
          </a:prstGeom>
          <a:solidFill>
            <a:srgbClr val="1A264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749808"/>
            <a:ext cx="278892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85953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2.0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120700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manipulation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6208" y="749808"/>
            <a:ext cx="2788920" cy="841248"/>
          </a:xfrm>
          <a:prstGeom prst="rect">
            <a:avLst/>
          </a:prstGeom>
          <a:solidFill>
            <a:srgbClr val="1A264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6208" y="749808"/>
            <a:ext cx="278892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85953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5936" y="120700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1709928"/>
            <a:ext cx="2788920" cy="841248"/>
          </a:xfrm>
          <a:prstGeom prst="rect">
            <a:avLst/>
          </a:prstGeom>
          <a:solidFill>
            <a:srgbClr val="1A26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1709928"/>
            <a:ext cx="2788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81965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 1.3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1671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· encoding · metrics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1709928"/>
            <a:ext cx="2788920" cy="841248"/>
          </a:xfrm>
          <a:prstGeom prst="rect">
            <a:avLst/>
          </a:prstGeom>
          <a:solidFill>
            <a:srgbClr val="1A264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1709928"/>
            <a:ext cx="278892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181965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21671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generation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36208" y="1709928"/>
            <a:ext cx="2788920" cy="841248"/>
          </a:xfrm>
          <a:prstGeom prst="rect">
            <a:avLst/>
          </a:prstGeom>
          <a:solidFill>
            <a:srgbClr val="1A264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36208" y="1709928"/>
            <a:ext cx="278892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181965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45936" y="21671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visualisation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2834640"/>
            <a:ext cx="8449056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29260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Startup Profitability Predictor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2920" y="33649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 Arora  ·  Reg. No: 2427030030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3694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Amit Kumar Gupta  ·  Dept. of CSE  ·  Manipal University Jaipur  ·  PBL 2025–2026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83280" y="4645152"/>
            <a:ext cx="2395728" cy="237744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464515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 / ai-startup-profitability-predictor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Startup Profitability Predictor – PBL 2026</dc:title>
  <dc:subject>PptxGenJS Presentation</dc:subject>
  <dc:creator>Laksh Arora</dc:creator>
  <cp:lastModifiedBy>Laksh Arora</cp:lastModifiedBy>
  <cp:revision>1</cp:revision>
  <dcterms:created xsi:type="dcterms:W3CDTF">2026-02-18T19:46:04Z</dcterms:created>
  <dcterms:modified xsi:type="dcterms:W3CDTF">2026-02-18T19:46:04Z</dcterms:modified>
</cp:coreProperties>
</file>